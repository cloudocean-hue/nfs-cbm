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8cd26e346c43a8" /><Relationship Type="http://schemas.openxmlformats.org/officeDocument/2006/relationships/extended-properties" Target="/docProps/app.xml" Id="Rf390abd954244780" /><Relationship Type="http://schemas.openxmlformats.org/officeDocument/2006/relationships/officeDocument" Target="/ppt/presentation.xml" Id="R890ef05a505942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6fd24376cd42b3"/>
  </p:sldMasterIdLst>
  <p:notesMasterIdLst>
    <p:notesMasterId xmlns:r="http://schemas.openxmlformats.org/officeDocument/2006/relationships" r:id="R5e11cd3b36b84cd0"/>
  </p:notesMasterIdLst>
  <p:sldIdLst>
    <p:sldId xmlns:r="http://schemas.openxmlformats.org/officeDocument/2006/relationships" id="256" r:id="Rc855bce95899475b"/>
  </p:sldIdLst>
  <p:sldSz cx="15240000" cy="7905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b5a09b60b24e3d" /><Relationship Type="http://schemas.openxmlformats.org/officeDocument/2006/relationships/slideMaster" Target="/ppt/slideMasters/slideMaster1.xml" Id="R856fd24376cd42b3" /><Relationship Type="http://schemas.openxmlformats.org/officeDocument/2006/relationships/notesMaster" Target="/ppt/notesMasters/notesMaster1.xml" Id="R5e11cd3b36b84cd0" /><Relationship Type="http://schemas.openxmlformats.org/officeDocument/2006/relationships/presProps" Target="/ppt/presProps.xml" Id="Rdd0c32e155a148ff" /><Relationship Type="http://schemas.openxmlformats.org/officeDocument/2006/relationships/tableStyles" Target="/ppt/tableStyles.xml" Id="Re6ddad47999e410e" /><Relationship Type="http://schemas.openxmlformats.org/officeDocument/2006/relationships/slide" Target="/ppt/slides/slide1.xml" Id="Rc855bce9589947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6421995ca742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0ab1d7aa184ff2" /><Relationship Type="http://schemas.openxmlformats.org/officeDocument/2006/relationships/notesMaster" Target="/ppt/notesMasters/notesMaster1.xml" Id="R2f832b7810a74f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Single-sample inference and explanation workflow requested by the author. NFS-CBM predicts class y-hat; concept selection is by R(y-hat,k)=W(y-hat,k)*z_k (manuscript Eq. 6), not activation alone. k*=argmax_k R(y-hat,k). The contribution bars are schematic and do not report measured values. Perturb only the selected coordinate and hold all others fixed; CDG generates original and perturbed reconstructions. Perturbation does not prescribe a sign. Image A and image B are stacked vertically and enter GPT-5.4 through two separate, straight horizontal arrows in the same request. The model receives the naming prompt as an additional input. The dictionary maps concept_id to best_name. The script stores confidence, evidence and additional fields in names.csv and result.json; no confidence value is fabricated in this diagram. Sources: tcsvt_initail.pdf, Sections III-F and III-G, Fig. 4a; Supplementary Material Section II. Only one sample from Fig. 4a is shown. Im68 is the original reconstruction; Im67 is the perturbed reconstruction. Because the raw input photograph was not supplied, the input-image node reuses Im68 as a schematic stand-in, not as evidence of exact reconstruction fidelity. Red plumage is the manuscript example for dimension 82; neither prediction nor ranking nor naming was recomputed. Current name_concepts.py implements the final image-pair naming stage; model inference, ranking, intervention and CDG require the trained NFS-CBM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b81833d96040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d855e5f7a048b5" /><Relationship Type="http://schemas.openxmlformats.org/officeDocument/2006/relationships/slideLayout" Target="/ppt/slideLayouts/slideLayout1.xml" Id="R2f027642a1a744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027642a1a744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b2369eef3f41a6" /><Relationship Type="http://schemas.openxmlformats.org/officeDocument/2006/relationships/image" Target="/ppt/media/image.jpeg" Id="Rb59a78bc507c4720" /><Relationship Type="http://schemas.openxmlformats.org/officeDocument/2006/relationships/image" Target="/ppt/media/image2.jpeg" Id="R61ad686ee1f24f31" /><Relationship Type="http://schemas.openxmlformats.org/officeDocument/2006/relationships/image" Target="/ppt/media/image3.jpeg" Id="Re4fe3b723e744441" /><Relationship Type="http://schemas.openxmlformats.org/officeDocument/2006/relationships/notesSlide" Target="/ppt/notesSlides/notesSlide1.xml" Id="Rb02d0f6cf2d74e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65C0C49-0773-45B3-8F32-503B48FB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71450"/>
            <a:ext cx="20955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5F8632-AE8B-4C19-8D79-530D3965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1450"/>
            <a:ext cx="29718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7F0984-8EE7-40BA-BAD9-CCC31896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71450"/>
            <a:ext cx="38290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039CB9-6EE9-44AC-8469-E4A62FC6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71450"/>
            <a:ext cx="51054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385EB9-9EAC-42F2-8734-AA97AD5C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238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Input image</a:t>
            </a:r>
          </a:p>
        </p:txBody>
      </p:sp>
      <p:pic>
        <p:nvPicPr>
          <p:cNvPr id="1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9a78bc507c4720"/>
          <a:stretch xmlns:a="http://schemas.openxmlformats.org/drawingml/2006/main"/>
        </p:blipFill>
        <p:spPr>
          <a:xfrm xmlns:a="http://schemas.openxmlformats.org/drawingml/2006/main">
            <a:off x="504825" y="1028700"/>
            <a:ext cx="1466850" cy="14668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9AEE83-071B-40B5-930A-0C7A4154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1">
                <a:solidFill>
                  <a:srgbClr val="182B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1">
                <a:solidFill>
                  <a:srgbClr val="182B47"/>
                </a:solidFill>
                <a:latin typeface="Times New Roman"/>
                <a:ea typeface="Times New Roman"/>
                <a:cs typeface="Times New Roman"/>
              </a:rPr>
              <a:t>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E6DA2E-F943-48D3-9EC0-682ACC78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3850"/>
            <a:ext cx="274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NFS-CBM decision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AF1211-38CA-4E60-A39F-22BE2546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219200"/>
            <a:ext cx="21145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F"/>
          </a:solidFill>
          <a:ln xmlns:a="http://schemas.openxmlformats.org/drawingml/2006/main" w="19050">
            <a:solidFill>
              <a:srgbClr val="182B4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5C9BC4-A1F1-45F5-9C30-8455CE58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23975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1">
                <a:solidFill>
                  <a:srgbClr val="182B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i="1">
                <a:solidFill>
                  <a:srgbClr val="182B47"/>
                </a:solidFill>
                <a:latin typeface="Times New Roman"/>
                <a:ea typeface="Times New Roman"/>
                <a:cs typeface="Times New Roman"/>
              </a:rPr>
              <a:t>NFS-CBM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82EB38-74E2-4CC4-A5E7-78A2B258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00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2F029D-2C95-496A-8F3E-40FAF69D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22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3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H="1">
            <a:off x="4057650" y="2000727"/>
            <a:ext cx="953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82B47"/>
            </a:solidFill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DFF416-483C-4162-AAA6-48C85556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286000"/>
            <a:ext cx="26098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Predicted class 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7A18D4-8311-421C-AE52-FEAE83C9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1419225"/>
            <a:ext cx="809625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9DFCE"/>
          </a:solidFill>
          <a:ln xmlns:a="http://schemas.openxmlformats.org/drawingml/2006/main" w="15240">
            <a:solidFill>
              <a:srgbClr val="C3662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6B98CD-70BD-494C-9FB2-EEDC6F69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23850"/>
            <a:ext cx="350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Concept selection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4ABF8C-FF7E-4D3B-BE29-25E31954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8096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Contribution to class 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341011-4BC7-4668-A829-554428B8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57400"/>
            <a:ext cx="295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CEE"/>
          </a:solidFill>
          <a:ln xmlns:a="http://schemas.openxmlformats.org/drawingml/2006/main" w="11430">
            <a:solidFill>
              <a:srgbClr val="182B4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6EA55B-F809-4910-9DBB-3FD2F200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90500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CEE"/>
          </a:solidFill>
          <a:ln xmlns:a="http://schemas.openxmlformats.org/drawingml/2006/main" w="11430">
            <a:solidFill>
              <a:srgbClr val="182B4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3C258D-7906-4578-BE0E-D8CF8EEF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714500"/>
            <a:ext cx="2952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CEE"/>
          </a:solidFill>
          <a:ln xmlns:a="http://schemas.openxmlformats.org/drawingml/2006/main" w="11430">
            <a:solidFill>
              <a:srgbClr val="182B4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7631FA-8D9E-496C-9B54-0203E921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219200"/>
            <a:ext cx="2952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26B"/>
          </a:solidFill>
          <a:ln xmlns:a="http://schemas.openxmlformats.org/drawingml/2006/main" w="11430">
            <a:solidFill>
              <a:srgbClr val="182B47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3551B7-F4D6-4474-BB3E-148F8613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66900"/>
            <a:ext cx="295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CEE"/>
          </a:solidFill>
          <a:ln xmlns:a="http://schemas.openxmlformats.org/drawingml/2006/main" w="11430">
            <a:solidFill>
              <a:srgbClr val="182B47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C44088-E44E-4C32-B3DE-7306E1DE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09775"/>
            <a:ext cx="2952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CEE"/>
          </a:solidFill>
          <a:ln xmlns:a="http://schemas.openxmlformats.org/drawingml/2006/main" w="11430">
            <a:solidFill>
              <a:srgbClr val="182B47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E03ED5-56A6-4EFA-A0BA-055FA9E2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33600"/>
            <a:ext cx="2952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CEE"/>
          </a:solidFill>
          <a:ln xmlns:a="http://schemas.openxmlformats.org/drawingml/2006/main" w="11430">
            <a:solidFill>
              <a:srgbClr val="182B4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8A4D9F-3F03-43A8-AAB5-77C0EAD7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33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D7F1A8-3B8F-4A66-9B08-54ABD1AA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333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7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6135053" y="2334102"/>
            <a:ext cx="3170872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82B47"/>
            </a:solidFill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D6D10D-32E4-4440-8D35-B1B694C4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43150"/>
            <a:ext cx="45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1">
                <a:solidFill>
                  <a:srgbClr val="182B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1">
                <a:solidFill>
                  <a:srgbClr val="182B47"/>
                </a:solidFill>
                <a:latin typeface="Times New Roman"/>
                <a:ea typeface="Times New Roman"/>
                <a:cs typeface="Times New Roman"/>
              </a:rPr>
              <a:t>k*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8EDA69-5068-47C5-9D94-4ED34870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724150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k* = arg maxₖ R(ŷ, k)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AFAC32-C41E-4557-963A-C188C961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419225"/>
            <a:ext cx="809625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9DFCE"/>
          </a:solidFill>
          <a:ln xmlns:a="http://schemas.openxmlformats.org/drawingml/2006/main" w="15240">
            <a:solidFill>
              <a:srgbClr val="C3662B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75C815-A176-4959-B84F-2CF31CC4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23850"/>
            <a:ext cx="472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Concept perturbation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B2E19B-C0D0-416B-9960-20720CF6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12395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 i="1">
                <a:solidFill>
                  <a:srgbClr val="182B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1">
                <a:solidFill>
                  <a:srgbClr val="182B47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12FCDD-228D-4FA9-BB44-46E63C90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955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 i="1">
                <a:solidFill>
                  <a:srgbClr val="182B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1">
                <a:solidFill>
                  <a:srgbClr val="182B47"/>
                </a:solidFill>
                <a:latin typeface="Times New Roman"/>
                <a:ea typeface="Times New Roman"/>
                <a:cs typeface="Times New Roman"/>
              </a:rPr>
              <a:t>z′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0A7D97-272C-45E2-8A6D-4BBF3A8A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133475"/>
            <a:ext cx="3143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F"/>
          </a:solidFill>
          <a:ln xmlns:a="http://schemas.openxmlformats.org/drawingml/2006/main" w="11430">
            <a:solidFill>
              <a:srgbClr val="182B47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34A133-4F1E-46F0-AA20-DD7C747A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1133475"/>
            <a:ext cx="3143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F"/>
          </a:solidFill>
          <a:ln xmlns:a="http://schemas.openxmlformats.org/drawingml/2006/main" w="11430">
            <a:solidFill>
              <a:srgbClr val="182B47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40A8BD3-CC54-4EEF-A8BA-8ABC6637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25" y="1133475"/>
            <a:ext cx="3143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F"/>
          </a:solidFill>
          <a:ln xmlns:a="http://schemas.openxmlformats.org/drawingml/2006/main" w="11430">
            <a:solidFill>
              <a:srgbClr val="182B47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CEED1F-2C07-49A9-912E-A4C1ED97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1133475"/>
            <a:ext cx="3143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C69F"/>
          </a:solidFill>
          <a:ln xmlns:a="http://schemas.openxmlformats.org/drawingml/2006/main" w="11430">
            <a:solidFill>
              <a:srgbClr val="182B47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EBB685-C8F6-40D6-9752-3724204C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1075" y="1133475"/>
            <a:ext cx="333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1">
                <a:solidFill>
                  <a:srgbClr val="182B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1">
                <a:solidFill>
                  <a:srgbClr val="182B47"/>
                </a:solidFill>
                <a:latin typeface="Times New Roman"/>
                <a:ea typeface="Times New Roman"/>
                <a:cs typeface="Times New Roman"/>
              </a:rPr>
              <a:t>k*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F0FA8A-1450-49D4-A509-38125DE1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8275" y="1133475"/>
            <a:ext cx="3143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F"/>
          </a:solidFill>
          <a:ln xmlns:a="http://schemas.openxmlformats.org/drawingml/2006/main" w="11430">
            <a:solidFill>
              <a:srgbClr val="182B47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EB925F6-F12B-41EF-B73C-C25F034B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950" y="1133475"/>
            <a:ext cx="3143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F"/>
          </a:solidFill>
          <a:ln xmlns:a="http://schemas.openxmlformats.org/drawingml/2006/main" w="11430">
            <a:solidFill>
              <a:srgbClr val="182B47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FAA2BCB-AB61-4194-AF67-79AB7109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1133475"/>
            <a:ext cx="3143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F"/>
          </a:solidFill>
          <a:ln xmlns:a="http://schemas.openxmlformats.org/drawingml/2006/main" w="11430">
            <a:solidFill>
              <a:srgbClr val="182B47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A77163F-7E88-4491-A54C-0B269814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2105025"/>
            <a:ext cx="3143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F"/>
          </a:solidFill>
          <a:ln xmlns:a="http://schemas.openxmlformats.org/drawingml/2006/main" w="11430">
            <a:solidFill>
              <a:srgbClr val="182B47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3786DE2-0D7F-42C5-AC07-CD382F25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105025"/>
            <a:ext cx="3143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F"/>
          </a:solidFill>
          <a:ln xmlns:a="http://schemas.openxmlformats.org/drawingml/2006/main" w="11430">
            <a:solidFill>
              <a:srgbClr val="182B47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0408F13-8F7B-43AE-8DA8-E6F36F3D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25" y="2105025"/>
            <a:ext cx="3143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F"/>
          </a:solidFill>
          <a:ln xmlns:a="http://schemas.openxmlformats.org/drawingml/2006/main" w="11430">
            <a:solidFill>
              <a:srgbClr val="182B47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8C5C4E6-8FE9-477B-B814-5628FAD5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2105025"/>
            <a:ext cx="3143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64F"/>
          </a:solidFill>
          <a:ln xmlns:a="http://schemas.openxmlformats.org/drawingml/2006/main" w="11430">
            <a:solidFill>
              <a:srgbClr val="182B47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63EDB44-3BCB-40BA-AF24-12E43D18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1075" y="2105025"/>
            <a:ext cx="333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1">
                <a:solidFill>
                  <a:srgbClr val="182B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1">
                <a:solidFill>
                  <a:srgbClr val="182B47"/>
                </a:solidFill>
                <a:latin typeface="Times New Roman"/>
                <a:ea typeface="Times New Roman"/>
                <a:cs typeface="Times New Roman"/>
              </a:rPr>
              <a:t>k*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357B362-1191-4260-BC52-DD752C9B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8275" y="2105025"/>
            <a:ext cx="3143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F"/>
          </a:solidFill>
          <a:ln xmlns:a="http://schemas.openxmlformats.org/drawingml/2006/main" w="11430">
            <a:solidFill>
              <a:srgbClr val="182B47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A087D2D-D79E-4C56-9771-4F12E43C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950" y="2105025"/>
            <a:ext cx="3143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F"/>
          </a:solidFill>
          <a:ln xmlns:a="http://schemas.openxmlformats.org/drawingml/2006/main" w="11430">
            <a:solidFill>
              <a:srgbClr val="182B47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5BF1A4C-6D0C-4D88-B4A0-D02231D1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2105025"/>
            <a:ext cx="3143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F"/>
          </a:solidFill>
          <a:ln xmlns:a="http://schemas.openxmlformats.org/drawingml/2006/main" w="11430">
            <a:solidFill>
              <a:srgbClr val="182B47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656957C-75A5-4CA0-A76F-EB48E65C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1552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1E0256A-BD32-444C-8CE2-F93A8F24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2057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2" name=""/>
          <p:cNvCxnSpPr>
            <a:stCxn xmlns:a="http://schemas.openxmlformats.org/drawingml/2006/main" id="50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 flipH="1">
            <a:off x="12573000" y="1553052"/>
            <a:ext cx="953" cy="50482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82B47"/>
            </a:solidFill>
            <a:tailEnd type="triangle" w="sm" len="sm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58FE6A4-F4D8-4580-A15D-D0D7A4E0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8775" y="16573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Perturb zₖ*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F7FA3A0-212D-4ECD-9421-1F800C47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2686050"/>
            <a:ext cx="4238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Other dimensions fixed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C4FED0A-2652-4CF2-AC70-77ECB6E3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419225"/>
            <a:ext cx="809625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9DFCE"/>
          </a:solidFill>
          <a:ln xmlns:a="http://schemas.openxmlformats.org/drawingml/2006/main" w="15240">
            <a:solidFill>
              <a:srgbClr val="C3662B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FA15384-3E9C-44E7-B56F-04EFEF98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19500"/>
            <a:ext cx="695325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CACB1D7-C2AB-4AEC-ABD1-7402DC2D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19500"/>
            <a:ext cx="390525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4D5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5E352EA-917B-47E7-840E-CF578023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619500"/>
            <a:ext cx="34290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E8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04725CD-FCF4-4353-8370-929F9611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743325"/>
            <a:ext cx="6543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Image generation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CCDC613-8B8C-47D5-8B66-46EAC52B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8675" y="5553075"/>
            <a:ext cx="2343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F"/>
          </a:solidFill>
          <a:ln xmlns:a="http://schemas.openxmlformats.org/drawingml/2006/main" w="19050">
            <a:solidFill>
              <a:srgbClr val="182B47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FC34D8A-A912-458D-8676-B148594A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3925" y="5629275"/>
            <a:ext cx="215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1">
                <a:solidFill>
                  <a:srgbClr val="182B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i="1">
                <a:solidFill>
                  <a:srgbClr val="182B47"/>
                </a:solidFill>
                <a:latin typeface="Times New Roman"/>
                <a:ea typeface="Times New Roman"/>
                <a:cs typeface="Times New Roman"/>
              </a:rPr>
              <a:t>CDG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69135BF-21C5-4B5E-B0EB-38FA6428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3009900"/>
            <a:ext cx="571500" cy="23526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9DFCE"/>
          </a:solidFill>
          <a:ln xmlns:a="http://schemas.openxmlformats.org/drawingml/2006/main" w="15240">
            <a:solidFill>
              <a:srgbClr val="C3662B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FA92D8E-033D-4ED9-8EE0-048E9304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32385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1">
                <a:solidFill>
                  <a:srgbClr val="182B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1">
                <a:solidFill>
                  <a:srgbClr val="182B47"/>
                </a:solidFill>
                <a:latin typeface="Times New Roman"/>
                <a:ea typeface="Times New Roman"/>
                <a:cs typeface="Times New Roman"/>
              </a:rPr>
              <a:t>z, z′</a:t>
            </a:r>
          </a:p>
        </p:txBody>
      </p:sp>
      <p:pic>
        <p:nvPicPr>
          <p:cNvPr id="1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ad686ee1f24f31"/>
          <a:stretch xmlns:a="http://schemas.openxmlformats.org/drawingml/2006/main"/>
        </p:blipFill>
        <p:spPr>
          <a:xfrm xmlns:a="http://schemas.openxmlformats.org/drawingml/2006/main">
            <a:off x="8848725" y="4429125"/>
            <a:ext cx="1143000" cy="1143000"/>
          </a:xfrm>
          <a:prstGeom xmlns:a="http://schemas.openxmlformats.org/drawingml/2006/main" prst="rect">
            <a:avLst/>
          </a:prstGeom>
        </p:spPr>
      </p:pic>
      <p:pic>
        <p:nvPicPr>
          <p:cNvPr id="1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fe3b723e744441"/>
          <a:stretch xmlns:a="http://schemas.openxmlformats.org/drawingml/2006/main"/>
        </p:blipFill>
        <p:spPr>
          <a:xfrm xmlns:a="http://schemas.openxmlformats.org/drawingml/2006/main">
            <a:off x="8848725" y="6286500"/>
            <a:ext cx="1143000" cy="1143000"/>
          </a:xfrm>
          <a:prstGeom xmlns:a="http://schemas.openxmlformats.org/drawingml/2006/main" prst="rect">
            <a:avLst/>
          </a:prstGeom>
        </p:spPr>
      </p:pic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A7BEFD1-0399-44A5-B2E5-4106A6C4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124325"/>
            <a:ext cx="1562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A: Original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DB577FE-93B4-47F3-8DA0-A097A259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981700"/>
            <a:ext cx="1657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B: Perturbed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FC521E5-D822-4AD1-8A83-7B48898C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8675" y="5915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C1D6956-2344-4921-9BDA-482530EA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5915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0" name=""/>
          <p:cNvCxnSpPr>
            <a:stCxn xmlns:a="http://schemas.openxmlformats.org/drawingml/2006/main" id="68" idx="3"/>
            <a:endCxn xmlns:a="http://schemas.openxmlformats.org/drawingml/2006/main" id="69" idx="1"/>
          </p:cNvCxnSpPr>
          <p:nvPr/>
        </p:nvCxnSpPr>
        <p:spPr>
          <a:xfrm xmlns:a="http://schemas.openxmlformats.org/drawingml/2006/main" flipH="1">
            <a:off x="11229975" y="5915502"/>
            <a:ext cx="1029653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82B47"/>
            </a:solidFill>
          </a:ln>
        </p:spPr>
      </p:cxn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F4B5E30-C14E-46F5-A994-1DF78FF8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5000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FD59FF4-14B8-4369-9200-238C29F4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6858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3" name=""/>
          <p:cNvCxnSpPr>
            <a:stCxn xmlns:a="http://schemas.openxmlformats.org/drawingml/2006/main" id="71" idx="3"/>
            <a:endCxn xmlns:a="http://schemas.openxmlformats.org/drawingml/2006/main" id="72" idx="1"/>
          </p:cNvCxnSpPr>
          <p:nvPr/>
        </p:nvCxnSpPr>
        <p:spPr>
          <a:xfrm xmlns:a="http://schemas.openxmlformats.org/drawingml/2006/main" flipH="1">
            <a:off x="11229975" y="5001102"/>
            <a:ext cx="953" cy="18573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82B47"/>
            </a:solidFill>
          </a:ln>
        </p:spPr>
      </p:cxn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0FF5975-7660-4DD2-BA4A-8968E316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5000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4C6CE6B-F8D0-4C8C-9100-114FEAC1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5000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6" name=""/>
          <p:cNvCxnSpPr>
            <a:stCxn xmlns:a="http://schemas.openxmlformats.org/drawingml/2006/main" id="74" idx="3"/>
            <a:endCxn xmlns:a="http://schemas.openxmlformats.org/drawingml/2006/main" id="75" idx="1"/>
          </p:cNvCxnSpPr>
          <p:nvPr/>
        </p:nvCxnSpPr>
        <p:spPr>
          <a:xfrm xmlns:a="http://schemas.openxmlformats.org/drawingml/2006/main" flipH="1">
            <a:off x="9991725" y="5001102"/>
            <a:ext cx="1239203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82B47"/>
            </a:solidFill>
            <a:tailEnd type="triangle" w="sm" len="sm"/>
          </a:ln>
        </p:spPr>
      </p:cxn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AF8796F-E428-4099-BC9C-F1473324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6858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16FE69B-3F15-4B1D-B8F3-3E1E0F9E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6858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9" name=""/>
          <p:cNvCxnSpPr>
            <a:stCxn xmlns:a="http://schemas.openxmlformats.org/drawingml/2006/main" id="77" idx="3"/>
            <a:endCxn xmlns:a="http://schemas.openxmlformats.org/drawingml/2006/main" id="78" idx="1"/>
          </p:cNvCxnSpPr>
          <p:nvPr/>
        </p:nvCxnSpPr>
        <p:spPr>
          <a:xfrm xmlns:a="http://schemas.openxmlformats.org/drawingml/2006/main" flipH="1">
            <a:off x="9991725" y="6858477"/>
            <a:ext cx="1239203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82B47"/>
            </a:solidFill>
            <a:tailEnd type="triangle" w="sm" len="sm"/>
          </a:ln>
        </p:spPr>
      </p:cxn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2E77FB7-08C7-432F-A5FB-96C1D47A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43325"/>
            <a:ext cx="3600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Concept naming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E58B1BC-7EAB-44F3-80BA-AA3E1454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48150"/>
            <a:ext cx="2419350" cy="400050"/>
          </a:xfrm>
          <a:prstGeom xmlns:a="http://schemas.openxmlformats.org/drawingml/2006/main" prst="foldedCorner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12383">
            <a:solidFill>
              <a:srgbClr val="182B47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148F031-4E0B-43FC-8FE3-7F3CD183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295775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Naming prompt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4DA8A57-4AEF-4A94-B12B-DD52F091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810125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F"/>
          </a:solidFill>
          <a:ln xmlns:a="http://schemas.openxmlformats.org/drawingml/2006/main" w="19050">
            <a:solidFill>
              <a:srgbClr val="182B47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3FB303E-CCF6-4F9D-B6C1-0A9E35E0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5695950"/>
            <a:ext cx="2628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1">
                <a:solidFill>
                  <a:srgbClr val="182B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i="1">
                <a:solidFill>
                  <a:srgbClr val="182B47"/>
                </a:solidFill>
                <a:latin typeface="Times New Roman"/>
                <a:ea typeface="Times New Roman"/>
                <a:cs typeface="Times New Roman"/>
              </a:rPr>
              <a:t>GPT-5.4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2C64163-7AC7-4DB1-8BFF-C7E14BE1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648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53C2AE5-06BC-40BF-AC4A-F7944106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78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7" name=""/>
          <p:cNvCxnSpPr>
            <a:stCxn xmlns:a="http://schemas.openxmlformats.org/drawingml/2006/main" id="85" idx="3"/>
            <a:endCxn xmlns:a="http://schemas.openxmlformats.org/drawingml/2006/main" id="86" idx="1"/>
          </p:cNvCxnSpPr>
          <p:nvPr/>
        </p:nvCxnSpPr>
        <p:spPr>
          <a:xfrm xmlns:a="http://schemas.openxmlformats.org/drawingml/2006/main" flipH="1">
            <a:off x="5857875" y="4648677"/>
            <a:ext cx="953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82B47"/>
            </a:solidFill>
            <a:tailEnd type="triangle" w="sm" len="sm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D74B8A2-4EA6-4FBD-8F58-225D5CEB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5000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6D9D7A7-B619-4E99-8B7E-D745B0FC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000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0" name=""/>
          <p:cNvCxnSpPr>
            <a:stCxn xmlns:a="http://schemas.openxmlformats.org/drawingml/2006/main" id="88" idx="3"/>
            <a:endCxn xmlns:a="http://schemas.openxmlformats.org/drawingml/2006/main" id="89" idx="1"/>
          </p:cNvCxnSpPr>
          <p:nvPr/>
        </p:nvCxnSpPr>
        <p:spPr>
          <a:xfrm xmlns:a="http://schemas.openxmlformats.org/drawingml/2006/main" flipH="1">
            <a:off x="7286625" y="5001102"/>
            <a:ext cx="1563053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82B47"/>
            </a:solidFill>
            <a:tailEnd type="triangle" w="sm" len="sm"/>
          </a:ln>
        </p:spPr>
      </p:cxn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90812AF-2E7C-400E-8367-2C13BF7B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6858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2815BE0-61C5-4D8D-A8A8-16916E1E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6858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3" name=""/>
          <p:cNvCxnSpPr>
            <a:stCxn xmlns:a="http://schemas.openxmlformats.org/drawingml/2006/main" id="91" idx="3"/>
            <a:endCxn xmlns:a="http://schemas.openxmlformats.org/drawingml/2006/main" id="92" idx="1"/>
          </p:cNvCxnSpPr>
          <p:nvPr/>
        </p:nvCxnSpPr>
        <p:spPr>
          <a:xfrm xmlns:a="http://schemas.openxmlformats.org/drawingml/2006/main" flipH="1">
            <a:off x="7286625" y="6858477"/>
            <a:ext cx="1563053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82B47"/>
            </a:solidFill>
            <a:tailEnd type="triangle" w="sm" len="sm"/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816CE0C-3810-4F2C-B3C3-25BCC493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7053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FF8BAC5-CDE5-4F51-9698-13B343BB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6562725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04716CA-78E9-4665-86BB-B5191743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3743325"/>
            <a:ext cx="321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Concept dictionary</a:t>
            </a:r>
          </a:p>
        </p:txBody>
      </p:sp>
      <p:graphicFrame>
        <p:nvGraphicFramePr>
          <p:cNvPr id="197" name=""/>
          <p:cNvGraphicFramePr/>
          <p:nvPr/>
        </p:nvGraphicFramePr>
        <p:xfrm>
          <a:off xmlns:a="http://schemas.openxmlformats.org/drawingml/2006/main" x="409575" y="4867275"/>
          <a:ext xmlns:a="http://schemas.openxmlformats.org/drawingml/2006/main" cx="2971800" cy="18002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809625"/>
                <a:gridCol w="2162175"/>
              </a:tblGrid>
              <a:tr h="419100">
                <a:tc>
                  <a:txBody>
                    <a:bodyPr lIns="47625" tIns="28575" rIns="47625" bIns="28575"/>
                    <a:lstStyle/>
                    <a:p>
                      <a:pPr algn="ctr"/>
                      <a:r>
                        <a:rPr sz="1725" b="1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ID</a:t>
                      </a:r>
                    </a:p>
                  </a:txBody>
                  <a:tcPr marL="91440" marR="91440" marT="45720" marB="45720" anchor="ctr">
                    <a:solidFill>
                      <a:srgbClr val="DCE5D9"/>
                    </a:solidFill>
                  </a:tcPr>
                </a:tc>
                <a:tc>
                  <a:txBody>
                    <a:bodyPr lIns="47625" tIns="28575" rIns="47625" bIns="28575"/>
                    <a:lstStyle/>
                    <a:p>
                      <a:pPr algn="ctr"/>
                      <a:r>
                        <a:rPr sz="1725" b="1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Name</a:t>
                      </a:r>
                    </a:p>
                  </a:txBody>
                  <a:tcPr marL="91440" marR="91440" marT="45720" marB="45720" anchor="ctr">
                    <a:solidFill>
                      <a:srgbClr val="DCE5D9"/>
                    </a:solidFill>
                  </a:tcPr>
                </a:tc>
              </a:tr>
              <a:tr h="342900">
                <a:tc>
                  <a:txBody>
                    <a:bodyPr lIns="47625" tIns="28575" rIns="47625" bIns="28575"/>
                    <a:lstStyle/>
                    <a:p>
                      <a:pPr algn="ctr"/>
                      <a:r>
                        <a:rPr sz="1725" b="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⋮</a:t>
                      </a:r>
                    </a:p>
                  </a:txBody>
                  <a:tcPr marL="91440" marR="91440" marT="45720" marB="45720" anchor="ctr">
                    <a:solidFill>
                      <a:srgbClr val="F7F9F5"/>
                    </a:solidFill>
                  </a:tcPr>
                </a:tc>
                <a:tc>
                  <a:txBody>
                    <a:bodyPr lIns="47625" tIns="28575" rIns="47625" bIns="28575"/>
                    <a:lstStyle/>
                    <a:p>
                      <a:pPr algn="ctr"/>
                      <a:r>
                        <a:rPr sz="1725" b="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⋮</a:t>
                      </a:r>
                    </a:p>
                  </a:txBody>
                  <a:tcPr marL="91440" marR="91440" marT="45720" marB="45720" anchor="ctr">
                    <a:solidFill>
                      <a:srgbClr val="F7F9F5"/>
                    </a:solidFill>
                  </a:tcPr>
                </a:tc>
              </a:tr>
              <a:tr h="666750">
                <a:tc>
                  <a:txBody>
                    <a:bodyPr lIns="47625" tIns="28575" rIns="47625" bIns="28575"/>
                    <a:lstStyle/>
                    <a:p>
                      <a:pPr algn="ctr"/>
                      <a:r>
                        <a:rPr sz="2025" b="1">
                          <a:solidFill>
                            <a:srgbClr val="823E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82</a:t>
                      </a:r>
                    </a:p>
                  </a:txBody>
                  <a:tcPr marL="91440" marR="91440" marT="45720" marB="45720" anchor="ctr">
                    <a:solidFill>
                      <a:srgbClr val="F7DFBC"/>
                    </a:solidFill>
                  </a:tcPr>
                </a:tc>
                <a:tc>
                  <a:txBody>
                    <a:bodyPr lIns="47625" tIns="28575" rIns="47625" bIns="28575"/>
                    <a:lstStyle/>
                    <a:p>
                      <a:pPr algn="ctr"/>
                      <a:r>
                        <a:rPr sz="2025" b="1">
                          <a:solidFill>
                            <a:srgbClr val="823E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Red plumage</a:t>
                      </a:r>
                    </a:p>
                  </a:txBody>
                  <a:tcPr marL="91440" marR="91440" marT="45720" marB="45720" anchor="ctr">
                    <a:solidFill>
                      <a:srgbClr val="F7DFBC"/>
                    </a:solidFill>
                  </a:tcPr>
                </a:tc>
              </a:tr>
              <a:tr h="371475">
                <a:tc>
                  <a:txBody>
                    <a:bodyPr lIns="47625" tIns="28575" rIns="47625" bIns="28575"/>
                    <a:lstStyle/>
                    <a:p>
                      <a:pPr algn="ctr"/>
                      <a:r>
                        <a:rPr sz="1725" b="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⋮</a:t>
                      </a:r>
                    </a:p>
                  </a:txBody>
                  <a:tcPr marL="91440" marR="91440" marT="45720" marB="45720" anchor="ctr">
                    <a:solidFill>
                      <a:srgbClr val="F7F9F5"/>
                    </a:solidFill>
                  </a:tcPr>
                </a:tc>
                <a:tc>
                  <a:txBody>
                    <a:bodyPr lIns="47625" tIns="28575" rIns="47625" bIns="28575"/>
                    <a:lstStyle/>
                    <a:p>
                      <a:pPr algn="ctr"/>
                      <a:r>
                        <a:rPr sz="1725" b="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⋮</a:t>
                      </a:r>
                    </a:p>
                  </a:txBody>
                  <a:tcPr marL="91440" marR="91440" marT="45720" marB="45720" anchor="ctr">
                    <a:solidFill>
                      <a:srgbClr val="F7F9F5"/>
                    </a:solidFill>
                  </a:tcPr>
                </a:tc>
              </a:tr>
            </a:tbl>
          </a:graphicData>
        </a:graphic>
      </p:graphicFrame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A60E2EC-9146-4791-BE79-9D071976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848475"/>
            <a:ext cx="1304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names.csv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1953F8F-D316-46B5-B3EF-C6365B93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6848475"/>
            <a:ext cx="1495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result.json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B1B5ED9-4E4B-46F5-B058-70E96E73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715000"/>
            <a:ext cx="857250" cy="4762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F9DFCE"/>
          </a:solidFill>
          <a:ln xmlns:a="http://schemas.openxmlformats.org/drawingml/2006/main" w="15240">
            <a:solidFill>
              <a:srgbClr val="C3662B"/>
            </a:solidFill>
          </a:ln>
        </p:spPr>
      </p:sp>
    </p:spTree>
    <p:extLst>
      <p:ext uri="{BB962C8B-B14F-4D97-AF65-F5344CB8AC3E}">
        <p14:creationId xmlns:p14="http://schemas.microsoft.com/office/powerpoint/2010/main" val="14405072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2026-09-06T14:09:48.0680000Z</dcterms:created>
  <dcterms:modified xsi:type="dcterms:W3CDTF">2026-09-06T14:09:48.0680000Z</dcterms:modified>
</coreProperties>
</file>